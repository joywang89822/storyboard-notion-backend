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遊戲／素材名稱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65760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icrosoft JhengHei"/>
              </a:rPr>
              <a:t>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投放媒體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804672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FB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Google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TikTok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其他：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43584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總支數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243584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8" name="TextBox 7"/>
          <p:cNvSpPr txBox="1"/>
          <p:nvPr/>
        </p:nvSpPr>
        <p:spPr>
          <a:xfrm>
            <a:off x="365760" y="1682496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單支秒數上限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82496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6s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15s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30s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45s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其他：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21408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是否做長短秒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121408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長秒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短秒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其他：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60320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素材類型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60320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全新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部分沿用舊素材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舊素材微調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relanguage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resize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其他：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99232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影像特殊需求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999232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3D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2D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真人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其他：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38144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音效特殊需求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438144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人聲配音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AI語音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先配樂再做畫面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需創作音樂　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☐</a:t>
            </a:r>
            <a:r>
              <a:rPr sz="1200" b="0">
                <a:solidFill>
                  <a:srgbClr val="000000"/>
                </a:solidFill>
                <a:latin typeface="Microsoft JhengHei"/>
              </a:rPr>
              <a:t>其他：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968496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畫面風格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968496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20" name="TextBox 19"/>
          <p:cNvSpPr txBox="1"/>
          <p:nvPr/>
        </p:nvSpPr>
        <p:spPr>
          <a:xfrm>
            <a:off x="365760" y="4407408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配樂風格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407408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22" name="TextBox 21"/>
          <p:cNvSpPr txBox="1"/>
          <p:nvPr/>
        </p:nvSpPr>
        <p:spPr>
          <a:xfrm>
            <a:off x="365760" y="4846320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廣告TA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46320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24" name="TextBox 23"/>
          <p:cNvSpPr txBox="1"/>
          <p:nvPr/>
        </p:nvSpPr>
        <p:spPr>
          <a:xfrm>
            <a:off x="365760" y="5285232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廣告目的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285232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26" name="TextBox 25"/>
          <p:cNvSpPr txBox="1"/>
          <p:nvPr/>
        </p:nvSpPr>
        <p:spPr>
          <a:xfrm>
            <a:off x="365760" y="5724144"/>
            <a:ext cx="1828800" cy="438912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JhengHei"/>
              </a:rPr>
              <a:t>廣告鉤子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724144"/>
            <a:ext cx="9601200" cy="43891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solidFill>
            <a:srgbClr val="404040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素材尺寸（需求標黃底，紅字優先對稿）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645920" cy="411480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icrosoft JhengHei"/>
              </a:rPr>
              <a:t>類別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14400"/>
            <a:ext cx="1645920" cy="411480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icrosoft JhengHei"/>
              </a:rPr>
              <a:t>素材類型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463040" cy="411480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icrosoft JhengHei"/>
              </a:rPr>
              <a:t>檔案格式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914400"/>
            <a:ext cx="5486400" cy="411480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icrosoft JhengHei"/>
              </a:rPr>
              <a:t>尺寸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914400"/>
            <a:ext cx="1188720" cy="411480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icrosoft JhengHei"/>
              </a:rPr>
              <a:t>備註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645920" cy="1719072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Microsoft JhengHei"/>
              </a:rPr>
              <a:t>適用廣告/社群素材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25880"/>
            <a:ext cx="16459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Banner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25880"/>
            <a:ext cx="146304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325880"/>
            <a:ext cx="54864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1920×1080、1080×1920、1080×1350、1080×1080、1200×628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1325880"/>
            <a:ext cx="11887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13" name="TextBox 12"/>
          <p:cNvSpPr txBox="1"/>
          <p:nvPr/>
        </p:nvSpPr>
        <p:spPr>
          <a:xfrm>
            <a:off x="2011680" y="1755648"/>
            <a:ext cx="16459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755648"/>
            <a:ext cx="146304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mp4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55648"/>
            <a:ext cx="54864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1920×1080、1080×1920、1080×1350、1080×1080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1755648"/>
            <a:ext cx="11887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17" name="TextBox 16"/>
          <p:cNvSpPr txBox="1"/>
          <p:nvPr/>
        </p:nvSpPr>
        <p:spPr>
          <a:xfrm>
            <a:off x="2011680" y="2185416"/>
            <a:ext cx="16459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Gif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185416"/>
            <a:ext cx="146304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185416"/>
            <a:ext cx="54864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1920×1080、1080×1920、1080×1350、1080×1080、1200×628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2185416"/>
            <a:ext cx="11887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21" name="TextBox 20"/>
          <p:cNvSpPr txBox="1"/>
          <p:nvPr/>
        </p:nvSpPr>
        <p:spPr>
          <a:xfrm>
            <a:off x="2011680" y="2615184"/>
            <a:ext cx="16459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Gif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15184"/>
            <a:ext cx="146304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mp4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615184"/>
            <a:ext cx="54864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1920×1080、1080×1920、1080×1350、1080×1080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2615184"/>
            <a:ext cx="11887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25" name="TextBox 24"/>
          <p:cNvSpPr txBox="1"/>
          <p:nvPr/>
        </p:nvSpPr>
        <p:spPr>
          <a:xfrm>
            <a:off x="365760" y="3044952"/>
            <a:ext cx="1645920" cy="214884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Microsoft JhengHei"/>
              </a:rPr>
              <a:t>適用商店頁素材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044952"/>
            <a:ext cx="16459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Screenshot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044952"/>
            <a:ext cx="146304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JPG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044952"/>
            <a:ext cx="54864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1920×1080（AN）、2732×2048（iOS iPad）、2688×1242、2208×1242（iOS手機）、1080×1920（AN）、2048×2732（iOS iPad）、1242×2688、1242×2208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3044952"/>
            <a:ext cx="11887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30" name="TextBox 29"/>
          <p:cNvSpPr txBox="1"/>
          <p:nvPr/>
        </p:nvSpPr>
        <p:spPr>
          <a:xfrm>
            <a:off x="2011680" y="3474720"/>
            <a:ext cx="16459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主題圖片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474720"/>
            <a:ext cx="146304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474720"/>
            <a:ext cx="54864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1024×500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3474720"/>
            <a:ext cx="11887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34" name="TextBox 33"/>
          <p:cNvSpPr txBox="1"/>
          <p:nvPr/>
        </p:nvSpPr>
        <p:spPr>
          <a:xfrm>
            <a:off x="2011680" y="3904488"/>
            <a:ext cx="16459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Liveops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904488"/>
            <a:ext cx="146304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JPG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04488"/>
            <a:ext cx="54864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1080×1920、1920×1080、1080×1080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3904488"/>
            <a:ext cx="11887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38" name="TextBox 37"/>
          <p:cNvSpPr txBox="1"/>
          <p:nvPr/>
        </p:nvSpPr>
        <p:spPr>
          <a:xfrm>
            <a:off x="2011680" y="4334256"/>
            <a:ext cx="16459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主題影片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334256"/>
            <a:ext cx="146304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mp4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334256"/>
            <a:ext cx="54864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1920×1080、1920×886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4334256"/>
            <a:ext cx="11887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42" name="TextBox 41"/>
          <p:cNvSpPr txBox="1"/>
          <p:nvPr/>
        </p:nvSpPr>
        <p:spPr>
          <a:xfrm>
            <a:off x="2011680" y="4764024"/>
            <a:ext cx="16459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Icon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764024"/>
            <a:ext cx="146304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JPG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764024"/>
            <a:ext cx="54864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512×512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764024"/>
            <a:ext cx="1188720" cy="429768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&lt;1MB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solidFill>
            <a:srgbClr val="404040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素材規範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Microsoft JhengHei"/>
              </a:rPr>
              <a:t>統一適用後續每支廣告素材（商店頁不適用），並將不在腳本中特別註明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1737360" cy="365760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icrosoft JhengHei"/>
              </a:rPr>
              <a:t>類別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234440"/>
            <a:ext cx="1828800" cy="365760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icrosoft JhengHei"/>
              </a:rPr>
              <a:t>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234440"/>
            <a:ext cx="6492240" cy="365760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icrosoft JhengHei"/>
              </a:rPr>
              <a:t>規格／示意圖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34440"/>
            <a:ext cx="1371600" cy="365760"/>
          </a:xfrm>
          <a:prstGeom prst="rect">
            <a:avLst/>
          </a:prstGeom>
          <a:solidFill>
            <a:srgbClr val="ECECEC"/>
          </a:solidFill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icrosoft JhengHei"/>
              </a:rPr>
              <a:t>備註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737360" cy="192024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icrosoft JhengHei"/>
              </a:rPr>
              <a:t>尺寸安全框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00200"/>
            <a:ext cx="1828800" cy="192024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重點訊息請優先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放置於安全區內</a:t>
            </a:r>
          </a:p>
        </p:txBody>
      </p:sp>
      <p:pic>
        <p:nvPicPr>
          <p:cNvPr id="10" name="Picture 9" descr="素材規範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09692"/>
            <a:ext cx="6492240" cy="19012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24160" y="1600200"/>
            <a:ext cx="1371600" cy="192024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12" name="TextBox 11"/>
          <p:cNvSpPr txBox="1"/>
          <p:nvPr/>
        </p:nvSpPr>
        <p:spPr>
          <a:xfrm>
            <a:off x="365760" y="3520440"/>
            <a:ext cx="1737360" cy="64008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icrosoft JhengHei"/>
              </a:rPr>
              <a:t>logo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20440"/>
            <a:ext cx="1828800" cy="64008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畫面左上置頂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520440"/>
            <a:ext cx="6492240" cy="64008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依素材內容套用，若背景太花logo不明顯，加背景相近色的色塊底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3520440"/>
            <a:ext cx="1371600" cy="64008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16" name="TextBox 15"/>
          <p:cNvSpPr txBox="1"/>
          <p:nvPr/>
        </p:nvSpPr>
        <p:spPr>
          <a:xfrm>
            <a:off x="365760" y="4160520"/>
            <a:ext cx="1737360" cy="50292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icrosoft JhengHei"/>
              </a:rPr>
              <a:t>分級標誌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160520"/>
            <a:ext cx="1828800" cy="50292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右下置底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60520"/>
            <a:ext cx="6492240" cy="50292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</a:p>
        </p:txBody>
      </p:sp>
      <p:sp>
        <p:nvSpPr>
          <p:cNvPr id="19" name="TextBox 18"/>
          <p:cNvSpPr txBox="1"/>
          <p:nvPr/>
        </p:nvSpPr>
        <p:spPr>
          <a:xfrm>
            <a:off x="10424160" y="4160520"/>
            <a:ext cx="1371600" cy="50292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適用台灣、印尼遊戲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63440"/>
            <a:ext cx="1737360" cy="155448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icrosoft JhengHei"/>
              </a:rPr>
              <a:t>警語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663440"/>
            <a:ext cx="1828800" cy="155448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下方置底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最小化字級，分行最多不超過兩行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依素材內容套用 (1)文字與背景相近色、(2)文字與文案相近字型、(3)可不加色塊底/加背景相近色的色塊底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663440"/>
            <a:ext cx="6492240" cy="155448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台灣：這不是一款賭博遊戲，且無任何方式可以贏得金錢獎勵或具有金錢價值的獎品。嚴禁賭博。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印尼：Game ini tidak menyediakan aktivitas perjudian apa pun, chips dalam game tidak dapat ditukar dengan uang tunai atau barang nyata lainnya.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4663440"/>
            <a:ext cx="1371600" cy="1554480"/>
          </a:xfrm>
          <a:prstGeom prst="rect">
            <a:avLst/>
          </a:prstGeom>
          <a:noFill/>
          <a:ln w="9525">
            <a:solidFill>
              <a:srgbClr val="B0B0B0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icrosoft JhengHei"/>
              </a:rPr>
              <a:t>適用印尼及中文德撲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